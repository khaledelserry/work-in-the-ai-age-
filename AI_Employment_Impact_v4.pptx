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4.xml" ContentType="application/vnd.openxmlformats-officedocument.presentationml.notesSlide+xml"/>
  <Override PartName="/ppt/charts/chart3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26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Vulnerability</c:v>
                </c:pt>
              </c:strCache>
            </c:strRef>
          </c:tx>
          <c:spPr>
            <a:solidFill>
              <a:srgbClr val="E85D4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202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Customer Support</c:v>
                </c:pt>
                <c:pt idx="1">
                  <c:v>Accountant</c:v>
                </c:pt>
                <c:pt idx="2">
                  <c:v>Data Analyst</c:v>
                </c:pt>
                <c:pt idx="3">
                  <c:v>Marketing Spec.</c:v>
                </c:pt>
                <c:pt idx="4">
                  <c:v>Truck Driver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78.8</c:v>
                </c:pt>
                <c:pt idx="1">
                  <c:v>73.400000000000006</c:v>
                </c:pt>
                <c:pt idx="2">
                  <c:v>72.5</c:v>
                </c:pt>
                <c:pt idx="3">
                  <c:v>72.2</c:v>
                </c:pt>
                <c:pt idx="4">
                  <c:v>71.2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024-4DD9-B3C5-91BED127A05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A202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0"/>
        </c:scaling>
        <c:delete val="0"/>
        <c:axPos val="b"/>
        <c:majorGridlines>
          <c:spPr>
            <a:ln w="9525" cap="flat">
              <a:solidFill>
                <a:srgbClr val="DDD4C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Vulnerability</c:v>
                </c:pt>
              </c:strCache>
            </c:strRef>
          </c:tx>
          <c:spPr>
            <a:solidFill>
              <a:srgbClr val="3182C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202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Transportation</c:v>
                </c:pt>
                <c:pt idx="1">
                  <c:v>Retail</c:v>
                </c:pt>
                <c:pt idx="2">
                  <c:v>Energy</c:v>
                </c:pt>
                <c:pt idx="3">
                  <c:v>Education</c:v>
                </c:pt>
                <c:pt idx="4">
                  <c:v>Manufacturing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72.900000000000006</c:v>
                </c:pt>
                <c:pt idx="1">
                  <c:v>71.900000000000006</c:v>
                </c:pt>
                <c:pt idx="2">
                  <c:v>70</c:v>
                </c:pt>
                <c:pt idx="3">
                  <c:v>69.400000000000006</c:v>
                </c:pt>
                <c:pt idx="4">
                  <c:v>68.599999999999994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F9D-436E-89EE-844B0CC87DF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A202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0"/>
        </c:scaling>
        <c:delete val="0"/>
        <c:axPos val="b"/>
        <c:majorGridlines>
          <c:spPr>
            <a:ln w="9525" cap="flat">
              <a:solidFill>
                <a:srgbClr val="DDD4C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02C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A202C"/>
                </a:solidFill>
                <a:latin typeface="Calibri"/>
              </a:rPr>
              <a:t>Avg. AI Labor Vulnerability Score by Country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Vulnerability Score</c:v>
                </c:pt>
              </c:strCache>
            </c:strRef>
          </c:tx>
          <c:spPr>
            <a:solidFill>
              <a:srgbClr val="3182C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202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India</c:v>
                </c:pt>
                <c:pt idx="1">
                  <c:v>Brazil</c:v>
                </c:pt>
                <c:pt idx="2">
                  <c:v>United States</c:v>
                </c:pt>
                <c:pt idx="3">
                  <c:v>Canada</c:v>
                </c:pt>
                <c:pt idx="4">
                  <c:v>Germany</c:v>
                </c:pt>
                <c:pt idx="5">
                  <c:v>Japan</c:v>
                </c:pt>
                <c:pt idx="6">
                  <c:v>United Kingdom</c:v>
                </c:pt>
                <c:pt idx="7">
                  <c:v>Singapore</c:v>
                </c:pt>
                <c:pt idx="8">
                  <c:v>Australia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77.900000000000006</c:v>
                </c:pt>
                <c:pt idx="1">
                  <c:v>77.400000000000006</c:v>
                </c:pt>
                <c:pt idx="2">
                  <c:v>70.400000000000006</c:v>
                </c:pt>
                <c:pt idx="3">
                  <c:v>68.900000000000006</c:v>
                </c:pt>
                <c:pt idx="4">
                  <c:v>68.099999999999994</c:v>
                </c:pt>
                <c:pt idx="5">
                  <c:v>67.8</c:v>
                </c:pt>
                <c:pt idx="6">
                  <c:v>64.5</c:v>
                </c:pt>
                <c:pt idx="7">
                  <c:v>64.099999999999994</c:v>
                </c:pt>
                <c:pt idx="8">
                  <c:v>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2C4-4DF2-9243-252EC24BF81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A202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0"/>
        </c:scaling>
        <c:delete val="0"/>
        <c:axPos val="b"/>
        <c:majorGridlines>
          <c:spPr>
            <a:ln w="9525" cap="flat">
              <a:solidFill>
                <a:srgbClr val="DDD4C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6484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486400" cy="5486400"/>
          </a:xfrm>
          <a:prstGeom prst="ellipse">
            <a:avLst/>
          </a:prstGeom>
          <a:solidFill>
            <a:srgbClr val="3182CE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241280" y="4206240"/>
            <a:ext cx="3291840" cy="3291840"/>
          </a:xfrm>
          <a:prstGeom prst="ellipse">
            <a:avLst/>
          </a:prstGeom>
          <a:solidFill>
            <a:srgbClr val="3182CE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8745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318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EMPLOYMENT &amp; LABOR VULNERABILITY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9875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Artificial Intelligence Is Reshaping</a:t>
            </a:r>
            <a:endParaRPr lang="en-US" sz="4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Jobs, Salaries &amp; Career Risk (2020–2026)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16052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analytics &amp; machine-learning study across 8 industries, 9 countries, and 10 job roles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5029200"/>
            <a:ext cx="502920" cy="54864"/>
          </a:xfrm>
          <a:prstGeom prst="rect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Directed by: Dr. Amal Mahmoud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E8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Our Expert Team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people behind the data, the models, and the story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514600" cy="40233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1A202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assets/esraa_fathy_sq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" y="2468880"/>
            <a:ext cx="1371600" cy="1371600"/>
          </a:xfrm>
          <a:prstGeom prst="ellipse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8368" y="4069080"/>
            <a:ext cx="2295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Esraa Fathy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58368" y="4434840"/>
            <a:ext cx="22951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18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Specialist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77240" y="4846320"/>
            <a:ext cx="2057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Designs the dashboards that turn AI-employment data into clear executive insight.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19272" y="2103120"/>
            <a:ext cx="2514600" cy="40233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1A202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/home/claude/assets/mahmoud_ahmed_sq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0772" y="2468880"/>
            <a:ext cx="1371600" cy="1371600"/>
          </a:xfrm>
          <a:prstGeom prst="ellipse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29000" y="4069080"/>
            <a:ext cx="2295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Mahmoud Ahmed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3429000" y="4434840"/>
            <a:ext cx="22951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18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547872" y="4846320"/>
            <a:ext cx="2057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and manages the project from data discovery through to final delivery.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089904" y="2103120"/>
            <a:ext cx="2514600" cy="40233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1A202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2" descr="/home/claude/assets/khaled_elserry_sq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1404" y="2468880"/>
            <a:ext cx="1371600" cy="1371600"/>
          </a:xfrm>
          <a:prstGeom prst="ellipse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99632" y="4069080"/>
            <a:ext cx="2295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Khaled Elserry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6199632" y="4434840"/>
            <a:ext cx="22951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18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318504" y="4846320"/>
            <a:ext cx="2057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ETL pipelines and data warehouse behind the analysis.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8860536" y="2103120"/>
            <a:ext cx="2514600" cy="40233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1A202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" name="Image 3" descr="/home/claude/assets/sondos_mostafa_sq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32036" y="2468880"/>
            <a:ext cx="1371600" cy="1371600"/>
          </a:xfrm>
          <a:prstGeom prst="ellipse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970264" y="4069080"/>
            <a:ext cx="2295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Sondos Mostafa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8970264" y="4434840"/>
            <a:ext cx="22951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18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9089136" y="4846320"/>
            <a:ext cx="2057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workforce data and extracts the insights driving recommendations.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9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E8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18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INSIDE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Roadmap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9B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554480" y="189280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Dataset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554480" y="2258568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15,000 records, 43 indicators — salaries, adoption, automation, skills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2770632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9B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554480" y="2788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&amp; Employee Dashboards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554480" y="315468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BI views of AI adoption and workforce impact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3666744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9B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554480" y="368503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&amp; Geography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554480" y="4050792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AI is moving fastest, and where jobs are most exposed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4562856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9B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554480" y="458114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Model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54480" y="4946904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machine-learning pipeline forecasting labor vulnerability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5458968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9B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554480" y="547725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Insights &amp; Recommendations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554480" y="5843016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leaders should do next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9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E8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18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&amp; Methodology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A202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18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15,000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records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697480" y="178308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A202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697480" y="19202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18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697480" y="2606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Indicators tracked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846320" y="178308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A202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46320" y="19202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18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846320" y="2606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995160" y="178308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A202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995160" y="19202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18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995160" y="2606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144000" y="178308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A202C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44000" y="19202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18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144000" y="2606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roles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3520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Pipeline: from raw data to a leakage-safe predictive model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4023360"/>
            <a:ext cx="292608" cy="292608"/>
          </a:xfrm>
          <a:prstGeom prst="ellipse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8640" y="40233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" y="3977640"/>
            <a:ext cx="10241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data discovery &amp; cleaning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480560"/>
            <a:ext cx="292608" cy="292608"/>
          </a:xfrm>
          <a:prstGeom prst="ellipse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48640" y="44805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05840" y="4434840"/>
            <a:ext cx="10241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 across salary, adoption &amp; risk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4937760"/>
            <a:ext cx="292608" cy="292608"/>
          </a:xfrm>
          <a:prstGeom prst="ellipse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48640" y="49377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05840" y="4892040"/>
            <a:ext cx="10241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— 26 model-ready inputs (23 numeric, 3 categorical)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5394960"/>
            <a:ext cx="292608" cy="292608"/>
          </a:xfrm>
          <a:prstGeom prst="ellipse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48640" y="53949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05840" y="5349240"/>
            <a:ext cx="10241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Leakage-safe train / test split (12,000 / 3,000 records)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48640" y="5852160"/>
            <a:ext cx="292608" cy="292608"/>
          </a:xfrm>
          <a:prstGeom prst="ellipse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48640" y="58521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05840" y="5806440"/>
            <a:ext cx="10241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regression models benchmarked, best pipeline tuned &amp; validated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9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E8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18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WAS BUILT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&amp; Tech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97480" cy="42976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9808" y="2011680"/>
            <a:ext cx="2295144" cy="457200"/>
          </a:xfrm>
          <a:prstGeom prst="roundRect">
            <a:avLst>
              <a:gd name="adj" fmla="val 14000"/>
            </a:avLst>
          </a:prstGeom>
          <a:solidFill>
            <a:srgbClr val="3182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9808" y="2011680"/>
            <a:ext cx="2295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08" y="2606040"/>
            <a:ext cx="22951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cleaning, standardization &amp; native PivotTable/PivotChart dashboards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&amp; inconsistent value fixing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4142232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Formula-driven "_update" correction columns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4764024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interactive Pivot dashboards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83280" y="1783080"/>
            <a:ext cx="2697480" cy="42976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584448" y="2011680"/>
            <a:ext cx="2295144" cy="457200"/>
          </a:xfrm>
          <a:prstGeom prst="roundRect">
            <a:avLst>
              <a:gd name="adj" fmla="val 14000"/>
            </a:avLst>
          </a:prstGeom>
          <a:solidFill>
            <a:srgbClr val="3182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584448" y="2011680"/>
            <a:ext cx="2295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84448" y="2606040"/>
            <a:ext cx="22951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7-table star-schema data warehouse for structured analysis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657600" y="352044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fact table + 6 dimension tables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0" y="4142232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reusable views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0" y="4764024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75+ analytical queries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0" y="1783080"/>
            <a:ext cx="2697480" cy="42976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419088" y="2011680"/>
            <a:ext cx="2295144" cy="457200"/>
          </a:xfrm>
          <a:prstGeom prst="roundRect">
            <a:avLst>
              <a:gd name="adj" fmla="val 14000"/>
            </a:avLst>
          </a:prstGeom>
          <a:solidFill>
            <a:srgbClr val="3182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19088" y="2011680"/>
            <a:ext cx="2295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&amp; Tableau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19088" y="2606040"/>
            <a:ext cx="22951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Executive-ready dashboards with interactive filters &amp; KPIs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92240" y="352044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published report pages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92240" y="4142232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Cross-filtering by year, country, industry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92240" y="4764024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Bookmark-based navigation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052560" y="1783080"/>
            <a:ext cx="2697480" cy="42976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253728" y="2011680"/>
            <a:ext cx="2295144" cy="457200"/>
          </a:xfrm>
          <a:prstGeom prst="roundRect">
            <a:avLst>
              <a:gd name="adj" fmla="val 14000"/>
            </a:avLst>
          </a:prstGeom>
          <a:solidFill>
            <a:srgbClr val="3182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253728" y="2011680"/>
            <a:ext cx="2295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(ML)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253728" y="2606040"/>
            <a:ext cx="22951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leakage-safe pipeline predicting labor vulnerability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326880" y="352044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regression models benchmarked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326880" y="4142232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Trees, R² = 0.957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326880" y="4764024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cross-validation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9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E8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18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01 · EXCEL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Cleaning the Data &amp; First Dashboards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raw export arrived dirty — Excel was used to standardize it and build the first native Pivot dashboards</a:t>
            </a:r>
            <a:endParaRPr lang="en-US" sz="1300" dirty="0"/>
          </a:p>
        </p:txBody>
      </p:sp>
      <p:pic>
        <p:nvPicPr>
          <p:cNvPr id="5" name="Image 0" descr="/home/claude/assets/excel_dash_exe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6949440" cy="4114800"/>
          </a:xfrm>
          <a:prstGeom prst="rect">
            <a:avLst/>
          </a:prstGeom>
          <a:effectLst>
            <a:outerShdw blurRad="101600" dist="38100" dir="5400000" algn="bl" rotWithShape="0">
              <a:srgbClr val="1A202C">
                <a:alpha val="18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7818120" y="1783080"/>
            <a:ext cx="3840480" cy="411480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046720" y="19659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Cleaning Highlights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046720" y="242316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inconsistent text entries — e.g. “Mohamed” / “MOHAMED” / “Mohamed ” → one clean value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046720" y="3264408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formula-driven correction columns (salary, AI-adoption stage, time-saved) alongside the original raw fields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46720" y="4105656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duplicate records and fixed missing values before loading to SQL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046720" y="4946904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3 native Excel Pivot dashboards (Executive &amp; Employee views) as the first look at the data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9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18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02 · SQL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Star-Schema Data Warehouse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7-table warehouse structures the cleaned data for fast, reliable analysis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063240" y="3520440"/>
            <a:ext cx="2286000" cy="822960"/>
          </a:xfrm>
          <a:prstGeom prst="roundRect">
            <a:avLst>
              <a:gd name="adj" fmla="val 10000"/>
            </a:avLst>
          </a:prstGeom>
          <a:solidFill>
            <a:srgbClr val="3182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063240" y="35204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Fact_Employment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 flipV="1">
            <a:off x="4206240" y="2240280"/>
            <a:ext cx="9144" cy="1691640"/>
          </a:xfrm>
          <a:prstGeom prst="line">
            <a:avLst/>
          </a:prstGeom>
          <a:noFill/>
          <a:ln w="15875">
            <a:solidFill>
              <a:srgbClr val="3D4B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429000" y="1988820"/>
            <a:ext cx="1554480" cy="502920"/>
          </a:xfrm>
          <a:prstGeom prst="roundRect">
            <a:avLst>
              <a:gd name="adj" fmla="val 12727"/>
            </a:avLst>
          </a:prstGeom>
          <a:solidFill>
            <a:srgbClr val="232B3D"/>
          </a:solidFill>
          <a:ln w="12700">
            <a:solidFill>
              <a:srgbClr val="3D4B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29000" y="19888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Dim_Year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 flipV="1">
            <a:off x="4206240" y="3086100"/>
            <a:ext cx="1979734" cy="845820"/>
          </a:xfrm>
          <a:prstGeom prst="line">
            <a:avLst/>
          </a:prstGeom>
          <a:noFill/>
          <a:ln w="15875">
            <a:solidFill>
              <a:srgbClr val="3D4B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408734" y="2834640"/>
            <a:ext cx="1554480" cy="502920"/>
          </a:xfrm>
          <a:prstGeom prst="roundRect">
            <a:avLst>
              <a:gd name="adj" fmla="val 12727"/>
            </a:avLst>
          </a:prstGeom>
          <a:solidFill>
            <a:srgbClr val="232B3D"/>
          </a:solidFill>
          <a:ln w="12700">
            <a:solidFill>
              <a:srgbClr val="3D4B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08734" y="28346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Dim_Risk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06240" y="3931920"/>
            <a:ext cx="1979734" cy="845820"/>
          </a:xfrm>
          <a:prstGeom prst="line">
            <a:avLst/>
          </a:prstGeom>
          <a:noFill/>
          <a:ln w="15875">
            <a:solidFill>
              <a:srgbClr val="3D4B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408734" y="4526280"/>
            <a:ext cx="1554480" cy="502920"/>
          </a:xfrm>
          <a:prstGeom prst="roundRect">
            <a:avLst>
              <a:gd name="adj" fmla="val 12727"/>
            </a:avLst>
          </a:prstGeom>
          <a:solidFill>
            <a:srgbClr val="232B3D"/>
          </a:solidFill>
          <a:ln w="12700">
            <a:solidFill>
              <a:srgbClr val="3D4B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08734" y="45262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Dim_Job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206240" y="3931920"/>
            <a:ext cx="9144" cy="1691640"/>
          </a:xfrm>
          <a:prstGeom prst="line">
            <a:avLst/>
          </a:prstGeom>
          <a:noFill/>
          <a:ln w="15875">
            <a:solidFill>
              <a:srgbClr val="3D4B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429000" y="5372100"/>
            <a:ext cx="1554480" cy="502920"/>
          </a:xfrm>
          <a:prstGeom prst="roundRect">
            <a:avLst>
              <a:gd name="adj" fmla="val 12727"/>
            </a:avLst>
          </a:prstGeom>
          <a:solidFill>
            <a:srgbClr val="232B3D"/>
          </a:solidFill>
          <a:ln w="12700">
            <a:solidFill>
              <a:srgbClr val="3D4B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429000" y="53721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Dim_Industry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 flipH="1">
            <a:off x="2226506" y="3931920"/>
            <a:ext cx="1979734" cy="845820"/>
          </a:xfrm>
          <a:prstGeom prst="line">
            <a:avLst/>
          </a:prstGeom>
          <a:noFill/>
          <a:ln w="15875">
            <a:solidFill>
              <a:srgbClr val="3D4B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449266" y="4526280"/>
            <a:ext cx="1554480" cy="502920"/>
          </a:xfrm>
          <a:prstGeom prst="roundRect">
            <a:avLst>
              <a:gd name="adj" fmla="val 12727"/>
            </a:avLst>
          </a:prstGeom>
          <a:solidFill>
            <a:srgbClr val="232B3D"/>
          </a:solidFill>
          <a:ln w="12700">
            <a:solidFill>
              <a:srgbClr val="3D4B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449266" y="45262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Dim_Education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 flipH="1" flipV="1">
            <a:off x="2226506" y="3086100"/>
            <a:ext cx="1979734" cy="845820"/>
          </a:xfrm>
          <a:prstGeom prst="line">
            <a:avLst/>
          </a:prstGeom>
          <a:noFill/>
          <a:ln w="15875">
            <a:solidFill>
              <a:srgbClr val="3D4B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449266" y="2834640"/>
            <a:ext cx="1554480" cy="502920"/>
          </a:xfrm>
          <a:prstGeom prst="roundRect">
            <a:avLst>
              <a:gd name="adj" fmla="val 12727"/>
            </a:avLst>
          </a:prstGeom>
          <a:solidFill>
            <a:srgbClr val="232B3D"/>
          </a:solidFill>
          <a:ln w="12700">
            <a:solidFill>
              <a:srgbClr val="3D4B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449266" y="28346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Dim_Country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955280" y="1783080"/>
            <a:ext cx="1234440" cy="960120"/>
          </a:xfrm>
          <a:prstGeom prst="roundRect">
            <a:avLst>
              <a:gd name="adj" fmla="val 7619"/>
            </a:avLst>
          </a:prstGeom>
          <a:solidFill>
            <a:srgbClr val="232B3D"/>
          </a:solidFill>
          <a:ln w="12700">
            <a:solidFill>
              <a:srgbClr val="3D4B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955280" y="1847088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18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955280" y="233172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9326880" y="1783080"/>
            <a:ext cx="1234440" cy="960120"/>
          </a:xfrm>
          <a:prstGeom prst="roundRect">
            <a:avLst>
              <a:gd name="adj" fmla="val 7619"/>
            </a:avLst>
          </a:prstGeom>
          <a:solidFill>
            <a:srgbClr val="232B3D"/>
          </a:solidFill>
          <a:ln w="12700">
            <a:solidFill>
              <a:srgbClr val="3D4B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326880" y="1847088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18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9326880" y="233172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Views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10698480" y="1783080"/>
            <a:ext cx="1234440" cy="960120"/>
          </a:xfrm>
          <a:prstGeom prst="roundRect">
            <a:avLst>
              <a:gd name="adj" fmla="val 7619"/>
            </a:avLst>
          </a:prstGeom>
          <a:solidFill>
            <a:srgbClr val="232B3D"/>
          </a:solidFill>
          <a:ln w="12700">
            <a:solidFill>
              <a:srgbClr val="3D4B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0698480" y="1847088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18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75+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10698480" y="233172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Queries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7955280" y="3017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Themes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7955280" y="3429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18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Insights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955280" y="373075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Adoption, risk &amp; salary trends at a glance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955280" y="42702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18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/ Career Guidance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955280" y="4572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Safest, highest-paid roles after AI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955280" y="511149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18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&amp; Fear Analysis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955280" y="541324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fear of AI matches actual risk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E8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18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· REPORT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Dashboard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view of AI adoption and automation exposure, filterable by industry, country, year and role</a:t>
            </a:r>
            <a:endParaRPr lang="en-US" sz="1300" dirty="0"/>
          </a:p>
        </p:txBody>
      </p:sp>
      <p:pic>
        <p:nvPicPr>
          <p:cNvPr id="5" name="Image 0" descr="/home/claude/assets/exec_da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8229600" cy="4114800"/>
          </a:xfrm>
          <a:prstGeom prst="rect">
            <a:avLst/>
          </a:prstGeom>
          <a:effectLst>
            <a:outerShdw blurRad="101600" dist="38100" dir="5400000" algn="bl" rotWithShape="0">
              <a:srgbClr val="1A202C">
                <a:alpha val="18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9098280" y="1783080"/>
            <a:ext cx="2560320" cy="1170432"/>
          </a:xfrm>
          <a:prstGeom prst="roundRect">
            <a:avLst>
              <a:gd name="adj" fmla="val 7031"/>
            </a:avLst>
          </a:prstGeom>
          <a:solidFill>
            <a:srgbClr val="1A20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235440" y="189280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18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59.2%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9235440" y="2514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Adoption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9098280" y="3108960"/>
            <a:ext cx="2560320" cy="1170432"/>
          </a:xfrm>
          <a:prstGeom prst="roundRect">
            <a:avLst>
              <a:gd name="adj" fmla="val 7031"/>
            </a:avLst>
          </a:prstGeom>
          <a:solidFill>
            <a:srgbClr val="1A20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9235440" y="321868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5D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84.1%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9235440" y="3840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Risk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9098280" y="4434840"/>
            <a:ext cx="2560320" cy="1170432"/>
          </a:xfrm>
          <a:prstGeom prst="roundRect">
            <a:avLst>
              <a:gd name="adj" fmla="val 7031"/>
            </a:avLst>
          </a:prstGeom>
          <a:solidFill>
            <a:srgbClr val="1A20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9235440" y="454456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8D3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+6.7%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9235440" y="51663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Salary Change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9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E8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18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· REPORT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Skills &amp; Career Impact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before/after AI, reskilling needs and skill gaps by job role and education level</a:t>
            </a:r>
            <a:endParaRPr lang="en-US" sz="1300" dirty="0"/>
          </a:p>
        </p:txBody>
      </p:sp>
      <p:pic>
        <p:nvPicPr>
          <p:cNvPr id="5" name="Image 0" descr="/home/claude/assets/employee_da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8229600" cy="4114800"/>
          </a:xfrm>
          <a:prstGeom prst="rect">
            <a:avLst/>
          </a:prstGeom>
          <a:effectLst>
            <a:outerShdw blurRad="101600" dist="38100" dir="5400000" algn="bl" rotWithShape="0">
              <a:srgbClr val="1A202C">
                <a:alpha val="18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9098280" y="1783080"/>
            <a:ext cx="2560320" cy="1170432"/>
          </a:xfrm>
          <a:prstGeom prst="roundRect">
            <a:avLst>
              <a:gd name="adj" fmla="val 7031"/>
            </a:avLst>
          </a:prstGeom>
          <a:solidFill>
            <a:srgbClr val="1A20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235440" y="189280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18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54.9%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9235440" y="2514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Feasibility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9098280" y="3108960"/>
            <a:ext cx="2560320" cy="1170432"/>
          </a:xfrm>
          <a:prstGeom prst="roundRect">
            <a:avLst>
              <a:gd name="adj" fmla="val 7031"/>
            </a:avLst>
          </a:prstGeom>
          <a:solidFill>
            <a:srgbClr val="1A20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9235440" y="321868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18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29.5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9235440" y="3840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Reskilling Score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9098280" y="4434840"/>
            <a:ext cx="2560320" cy="1170432"/>
          </a:xfrm>
          <a:prstGeom prst="roundRect">
            <a:avLst>
              <a:gd name="adj" fmla="val 7031"/>
            </a:avLst>
          </a:prstGeom>
          <a:solidFill>
            <a:srgbClr val="1A20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9235440" y="454456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18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54.5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9235440" y="51663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Skill Gap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9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FE8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18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· REPORT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&amp; Geographic Analysis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adoption pace and workforce disruption compared across industries and countries</a:t>
            </a:r>
            <a:endParaRPr lang="en-US" sz="1300" dirty="0"/>
          </a:p>
        </p:txBody>
      </p:sp>
      <p:pic>
        <p:nvPicPr>
          <p:cNvPr id="5" name="Image 0" descr="/home/claude/assets/industry_da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8229600" cy="4114800"/>
          </a:xfrm>
          <a:prstGeom prst="rect">
            <a:avLst/>
          </a:prstGeom>
          <a:effectLst>
            <a:outerShdw blurRad="101600" dist="38100" dir="5400000" algn="bl" rotWithShape="0">
              <a:srgbClr val="1A202C">
                <a:alpha val="18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9098280" y="1783080"/>
            <a:ext cx="2560320" cy="1170432"/>
          </a:xfrm>
          <a:prstGeom prst="roundRect">
            <a:avLst>
              <a:gd name="adj" fmla="val 7031"/>
            </a:avLst>
          </a:prstGeom>
          <a:solidFill>
            <a:srgbClr val="1A20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235440" y="189280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18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78.6%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9235440" y="2514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Rate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9098280" y="3108960"/>
            <a:ext cx="2560320" cy="1170432"/>
          </a:xfrm>
          <a:prstGeom prst="roundRect">
            <a:avLst>
              <a:gd name="adj" fmla="val 7031"/>
            </a:avLst>
          </a:prstGeom>
          <a:solidFill>
            <a:srgbClr val="1A20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9235440" y="321868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8D3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+6.7%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9235440" y="3840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Salary Change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9098280" y="4434840"/>
            <a:ext cx="2560320" cy="1170432"/>
          </a:xfrm>
          <a:prstGeom prst="roundRect">
            <a:avLst>
              <a:gd name="adj" fmla="val 7031"/>
            </a:avLst>
          </a:prstGeom>
          <a:solidFill>
            <a:srgbClr val="1A20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9235440" y="454456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18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9235440" y="51663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Tracked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9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FE8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18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Dashboards Tell Us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11880" cy="42976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965960"/>
            <a:ext cx="3154680" cy="45720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9659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View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65176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adoption has reached ~59% and keeps climbing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347472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Technology, Finance &amp; Manufacturing lead adoption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429768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remains the least AI-enabled industry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512064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Salaries keep rising even as automation increases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89120" y="1737360"/>
            <a:ext cx="3611880" cy="42976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17720" y="1965960"/>
            <a:ext cx="3154680" cy="457200"/>
          </a:xfrm>
          <a:prstGeom prst="roundRect">
            <a:avLst>
              <a:gd name="adj" fmla="val 14000"/>
            </a:avLst>
          </a:prstGeom>
          <a:solidFill>
            <a:srgbClr val="3182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17720" y="19659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View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63440" y="265176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Reskilling is becoming essential, not optional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663440" y="347472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 &amp; truck driving face the highest replacement risk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663440" y="429768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engineers stay highly valued post-AI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663440" y="512064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 &amp; Master's holders show the strongest job survival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229600" y="1737360"/>
            <a:ext cx="3611880" cy="42976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458200" y="1965960"/>
            <a:ext cx="3154680" cy="457200"/>
          </a:xfrm>
          <a:prstGeom prst="roundRect">
            <a:avLst>
              <a:gd name="adj" fmla="val 14000"/>
            </a:avLst>
          </a:prstGeom>
          <a:solidFill>
            <a:srgbClr val="60708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458200" y="19659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View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503920" y="265176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adoption grows year-over-year across every region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503920" y="347472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growth tracks closely with AI adoption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503920" y="429768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shows the heaviest automation pressure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503920" y="512064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stays globally balanced despite the shift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9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18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INSIGHT TO PREDICTION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a Predictive Model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predict each job's AI Labor Vulnerability Score from workforce, industry and task-level signals — without leaking the answer into the inputs.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697480" cy="3108960"/>
          </a:xfrm>
          <a:prstGeom prst="roundRect">
            <a:avLst>
              <a:gd name="adj" fmla="val 3390"/>
            </a:avLst>
          </a:prstGeom>
          <a:solidFill>
            <a:srgbClr val="232B3D"/>
          </a:solidFill>
          <a:ln w="12700">
            <a:solidFill>
              <a:srgbClr val="3540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9808" y="24231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18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49808" y="2926080"/>
            <a:ext cx="2295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49808" y="3401568"/>
            <a:ext cx="2295144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ColumnTransformer with imputation, scaling &amp; one-hot encoding for 23 numeric + 3 categorical features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83280" y="2286000"/>
            <a:ext cx="2697480" cy="3108960"/>
          </a:xfrm>
          <a:prstGeom prst="roundRect">
            <a:avLst>
              <a:gd name="adj" fmla="val 3390"/>
            </a:avLst>
          </a:prstGeom>
          <a:solidFill>
            <a:srgbClr val="232B3D"/>
          </a:solidFill>
          <a:ln w="12700">
            <a:solidFill>
              <a:srgbClr val="3540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584448" y="24231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18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584448" y="2926080"/>
            <a:ext cx="2295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Leakage Control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584448" y="3401568"/>
            <a:ext cx="2295144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reconstruction &amp; target-adjacent columns removed before training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2286000"/>
            <a:ext cx="2697480" cy="3108960"/>
          </a:xfrm>
          <a:prstGeom prst="roundRect">
            <a:avLst>
              <a:gd name="adj" fmla="val 3390"/>
            </a:avLst>
          </a:prstGeom>
          <a:solidFill>
            <a:srgbClr val="232B3D"/>
          </a:solidFill>
          <a:ln w="12700">
            <a:solidFill>
              <a:srgbClr val="3540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19088" y="24231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18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419088" y="2926080"/>
            <a:ext cx="2295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Benchmarking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419088" y="3401568"/>
            <a:ext cx="2295144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regression algorithms trained on identical pipelines — linear, tree &amp; boosting families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052560" y="2286000"/>
            <a:ext cx="2697480" cy="3108960"/>
          </a:xfrm>
          <a:prstGeom prst="roundRect">
            <a:avLst>
              <a:gd name="adj" fmla="val 3390"/>
            </a:avLst>
          </a:prstGeom>
          <a:solidFill>
            <a:srgbClr val="232B3D"/>
          </a:solidFill>
          <a:ln w="12700">
            <a:solidFill>
              <a:srgbClr val="3540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253728" y="24231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18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253728" y="2926080"/>
            <a:ext cx="2295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Tuning &amp; Validation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9253728" y="3401568"/>
            <a:ext cx="2295144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cross-validation + randomized search on the best-performing model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FE8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18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RISK CONCENTRATES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Highest-Risk Jobs &amp; Industries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AI Labor Vulnerability Score by Job Role</a:t>
            </a:r>
            <a:endParaRPr lang="en-US" sz="13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2103120"/>
          <a:ext cx="557784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6400800" y="1691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AI Labor Vulnerability Score by Industry</a:t>
            </a:r>
            <a:endParaRPr lang="en-US" sz="1350" dirty="0"/>
          </a:p>
        </p:txBody>
      </p:sp>
      <p:graphicFrame>
        <p:nvGraphicFramePr>
          <p:cNvPr id="7" name="Chart 1"/>
          <p:cNvGraphicFramePr/>
          <p:nvPr/>
        </p:nvGraphicFramePr>
        <p:xfrm>
          <a:off x="6400800" y="2103120"/>
          <a:ext cx="521208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9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FE8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18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LENS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Countries Stand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783080"/>
          <a:ext cx="685800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680960" y="1783080"/>
            <a:ext cx="3977640" cy="448056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909560" y="19659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the Map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909560" y="242316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economies (India, Brazil) show the highest vulnerability despite lower AI adoption — wages haven't kept pace with automation pressure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909560" y="365760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U.S. combines high salaries with high exposure — more to lose from disruption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909560" y="489204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 &amp; Singapore sit lowest — higher-value, harder-to-automate role mix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9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18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LEADERS SHOULD 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697480" cy="3566160"/>
          </a:xfrm>
          <a:prstGeom prst="roundRect">
            <a:avLst>
              <a:gd name="adj" fmla="val 3390"/>
            </a:avLst>
          </a:prstGeom>
          <a:solidFill>
            <a:srgbClr val="232B3D"/>
          </a:solidFill>
          <a:ln w="12700">
            <a:solidFill>
              <a:srgbClr val="3540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2240280"/>
            <a:ext cx="457200" cy="457200"/>
          </a:xfrm>
          <a:prstGeom prst="ellipse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49808" y="28346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 in Reskilling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49808" y="3520440"/>
            <a:ext cx="229514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continuous learning and AI-literacy programs, prioritizing the highest-vulnerability roles first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83280" y="2011680"/>
            <a:ext cx="2697480" cy="3566160"/>
          </a:xfrm>
          <a:prstGeom prst="roundRect">
            <a:avLst>
              <a:gd name="adj" fmla="val 3390"/>
            </a:avLst>
          </a:prstGeom>
          <a:solidFill>
            <a:srgbClr val="232B3D"/>
          </a:solidFill>
          <a:ln w="12700">
            <a:solidFill>
              <a:srgbClr val="3540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11880" y="2240280"/>
            <a:ext cx="457200" cy="457200"/>
          </a:xfrm>
          <a:prstGeom prst="ellipse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1188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84448" y="28346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 Repetitive Work First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584448" y="3520440"/>
            <a:ext cx="229514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routine, task-based processes before touching judgment-heavy or client-facing roles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0" y="2011680"/>
            <a:ext cx="2697480" cy="3566160"/>
          </a:xfrm>
          <a:prstGeom prst="roundRect">
            <a:avLst>
              <a:gd name="adj" fmla="val 3390"/>
            </a:avLst>
          </a:prstGeom>
          <a:solidFill>
            <a:srgbClr val="232B3D"/>
          </a:solidFill>
          <a:ln w="12700">
            <a:solidFill>
              <a:srgbClr val="3540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446520" y="2240280"/>
            <a:ext cx="457200" cy="457200"/>
          </a:xfrm>
          <a:prstGeom prst="ellipse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4652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19088" y="28346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 Advanced Education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419088" y="3520440"/>
            <a:ext cx="229514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degrees and certifications — PhD/Master's holders show the strongest job survival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052560" y="2011680"/>
            <a:ext cx="2697480" cy="3566160"/>
          </a:xfrm>
          <a:prstGeom prst="roundRect">
            <a:avLst>
              <a:gd name="adj" fmla="val 3390"/>
            </a:avLst>
          </a:prstGeom>
          <a:solidFill>
            <a:srgbClr val="232B3D"/>
          </a:solidFill>
          <a:ln w="12700">
            <a:solidFill>
              <a:srgbClr val="3540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281160" y="2240280"/>
            <a:ext cx="457200" cy="457200"/>
          </a:xfrm>
          <a:prstGeom prst="ellipse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28116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253728" y="28346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Vulnerability, Not Just Adoption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253728" y="3520440"/>
            <a:ext cx="229514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predictive score (like this model) to flag at-risk teams early, not after layoffs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3182CE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246888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is transforming jobs — not replacing all workers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35204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organizations that invest in reskilling, track vulnerability early, and lead with data will keep the advantage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14400" y="4206240"/>
            <a:ext cx="502920" cy="54864"/>
          </a:xfrm>
          <a:prstGeom prst="rect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53949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18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1095</Words>
  <Application>Microsoft Office PowerPoint</Application>
  <PresentationFormat>Widescreen</PresentationFormat>
  <Paragraphs>230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Khaled Elserry</cp:lastModifiedBy>
  <cp:revision>2</cp:revision>
  <dcterms:created xsi:type="dcterms:W3CDTF">2026-07-10T09:59:19Z</dcterms:created>
  <dcterms:modified xsi:type="dcterms:W3CDTF">2026-07-10T11:57:47Z</dcterms:modified>
</cp:coreProperties>
</file>